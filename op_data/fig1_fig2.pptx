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1.xml"/>
  <Override ContentType="application/vnd.ms-office.chartcolorstyle+xml" PartName="/ppt/charts/colors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1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12192000"/>
  <p:notesSz cx="6858000" cy="9144000"/>
  <p:embeddedFontLst>
    <p:embeddedFont>
      <p:font typeface="Play"/>
      <p:regular r:id="rId10"/>
      <p:bold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g0hbEzWTeIwE0vNXKgQTjuFqnj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Play-bold.fntdata"/><Relationship Id="rId10" Type="http://schemas.openxmlformats.org/officeDocument/2006/relationships/font" Target="fonts/Play-regular.fntdata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oleObject" Target="file:///C:\Users\purupanta\Downloads\summary_statistics_calculated.xlsx" TargetMode="External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oleObject" Target="file:///C:\Users\purupanta\Downloads\summary_statistics_calculated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/>
              <a:t>Accuracy and AUC-ROC</a:t>
            </a:r>
          </a:p>
        </c:rich>
      </c:tx>
      <c:layout>
        <c:manualLayout>
          <c:xMode val="edge"/>
          <c:yMode val="edge"/>
          <c:x val="0.32134711286089246"/>
          <c:y val="5.5555555555555558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2057174103237095"/>
          <c:y val="0.11555555555555555"/>
          <c:w val="0.86831714785651781"/>
          <c:h val="0.69457217847769026"/>
        </c:manualLayout>
      </c:layout>
      <c:lineChart>
        <c:grouping val="standard"/>
        <c:varyColors val="0"/>
        <c:ser>
          <c:idx val="0"/>
          <c:order val="0"/>
          <c:tx>
            <c:strRef>
              <c:f>'Accuracy_AUC-ROC_ExTime'!$J$2</c:f>
              <c:strCache>
                <c:ptCount val="1"/>
                <c:pt idx="0">
                  <c:v>Accuracy</c:v>
                </c:pt>
              </c:strCache>
            </c:strRef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'Accuracy_AUC-ROC_ExTime'!$I$3:$I$10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SVM</c:v>
                </c:pt>
                <c:pt idx="3">
                  <c:v>XGBoost</c:v>
                </c:pt>
                <c:pt idx="4">
                  <c:v>ANN</c:v>
                </c:pt>
                <c:pt idx="5">
                  <c:v>xLSTM</c:v>
                </c:pt>
                <c:pt idx="6">
                  <c:v>TabPFN</c:v>
                </c:pt>
                <c:pt idx="7">
                  <c:v>SE</c:v>
                </c:pt>
              </c:strCache>
            </c:strRef>
          </c:cat>
          <c:val>
            <c:numRef>
              <c:f>'Accuracy_AUC-ROC_ExTime'!$J$3:$J$10</c:f>
              <c:numCache>
                <c:formatCode>0.00</c:formatCode>
                <c:ptCount val="8"/>
                <c:pt idx="0">
                  <c:v>0.76</c:v>
                </c:pt>
                <c:pt idx="1">
                  <c:v>0.95</c:v>
                </c:pt>
                <c:pt idx="2">
                  <c:v>0.75</c:v>
                </c:pt>
                <c:pt idx="3">
                  <c:v>0.92</c:v>
                </c:pt>
                <c:pt idx="4">
                  <c:v>0.92</c:v>
                </c:pt>
                <c:pt idx="5">
                  <c:v>0.92</c:v>
                </c:pt>
                <c:pt idx="6">
                  <c:v>0.95</c:v>
                </c:pt>
                <c:pt idx="7">
                  <c:v>0.97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F2B-409C-A3F2-A059436E43EB}"/>
            </c:ext>
          </c:extLst>
        </c:ser>
        <c:ser>
          <c:idx val="1"/>
          <c:order val="1"/>
          <c:tx>
            <c:strRef>
              <c:f>'Accuracy_AUC-ROC_ExTime'!$K$2</c:f>
              <c:strCache>
                <c:ptCount val="1"/>
                <c:pt idx="0">
                  <c:v>AUC-ROC</c:v>
                </c:pt>
              </c:strCache>
            </c:strRef>
          </c:tx>
          <c:spPr>
            <a:ln w="63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'Accuracy_AUC-ROC_ExTime'!$I$3:$I$10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SVM</c:v>
                </c:pt>
                <c:pt idx="3">
                  <c:v>XGBoost</c:v>
                </c:pt>
                <c:pt idx="4">
                  <c:v>ANN</c:v>
                </c:pt>
                <c:pt idx="5">
                  <c:v>xLSTM</c:v>
                </c:pt>
                <c:pt idx="6">
                  <c:v>TabPFN</c:v>
                </c:pt>
                <c:pt idx="7">
                  <c:v>SE</c:v>
                </c:pt>
              </c:strCache>
            </c:strRef>
          </c:cat>
          <c:val>
            <c:numRef>
              <c:f>'Accuracy_AUC-ROC_ExTime'!$K$3:$K$10</c:f>
              <c:numCache>
                <c:formatCode>0.00</c:formatCode>
                <c:ptCount val="8"/>
                <c:pt idx="0">
                  <c:v>0.83</c:v>
                </c:pt>
                <c:pt idx="1">
                  <c:v>0.99</c:v>
                </c:pt>
                <c:pt idx="2">
                  <c:v>0.82</c:v>
                </c:pt>
                <c:pt idx="3">
                  <c:v>0.98</c:v>
                </c:pt>
                <c:pt idx="4">
                  <c:v>0.96</c:v>
                </c:pt>
                <c:pt idx="5">
                  <c:v>0.96</c:v>
                </c:pt>
                <c:pt idx="6">
                  <c:v>0.98</c:v>
                </c:pt>
                <c:pt idx="7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F2B-409C-A3F2-A059436E43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67899423"/>
        <c:axId val="1967884063"/>
      </c:lineChart>
      <c:catAx>
        <c:axId val="196789942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Models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67884063"/>
        <c:crossesAt val="0.75000000000000011"/>
        <c:auto val="1"/>
        <c:lblAlgn val="ctr"/>
        <c:lblOffset val="100"/>
        <c:noMultiLvlLbl val="0"/>
      </c:catAx>
      <c:valAx>
        <c:axId val="1967884063"/>
        <c:scaling>
          <c:orientation val="minMax"/>
          <c:max val="1"/>
          <c:min val="0.75000000000000011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Accuracy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0.0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1967899423"/>
        <c:crosses val="autoZero"/>
        <c:crossBetween val="between"/>
      </c:valAx>
      <c:spPr>
        <a:noFill/>
        <a:ln w="9525">
          <a:solidFill>
            <a:schemeClr val="accent1">
              <a:alpha val="89000"/>
            </a:schemeClr>
          </a:solidFill>
        </a:ln>
        <a:effectLst/>
      </c:spPr>
    </c:plotArea>
    <c:legend>
      <c:legendPos val="b"/>
      <c:layout>
        <c:manualLayout>
          <c:xMode val="edge"/>
          <c:yMode val="edge"/>
          <c:x val="0.52558005249343831"/>
          <c:y val="0.64599387576552936"/>
          <c:w val="0.40995100612423446"/>
          <c:h val="7.345071449402157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sz="12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 run time: Log</a:t>
            </a:r>
            <a:r>
              <a:rPr lang="en-US" sz="1200" b="0" i="0" u="none" strike="noStrike" kern="1200" spc="0" baseline="-2500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200" b="0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(runtime in seconds)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665048118985127"/>
          <c:y val="0.14393518518518519"/>
          <c:w val="0.85279396325459311"/>
          <c:h val="0.66069422572178482"/>
        </c:manualLayout>
      </c:layout>
      <c:lineChart>
        <c:grouping val="standard"/>
        <c:varyColors val="0"/>
        <c:ser>
          <c:idx val="0"/>
          <c:order val="0"/>
          <c:tx>
            <c:strRef>
              <c:f>'Accuracy_AUC-ROC_ExTime'!$M$29</c:f>
              <c:strCache>
                <c:ptCount val="1"/>
                <c:pt idx="0">
                  <c:v>Log10_Round</c:v>
                </c:pt>
              </c:strCache>
            </c:strRef>
          </c:tx>
          <c:spPr>
            <a:ln w="63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'Accuracy_AUC-ROC_ExTime'!$L$31:$L$38</c:f>
              <c:strCache>
                <c:ptCount val="8"/>
                <c:pt idx="0">
                  <c:v>LR</c:v>
                </c:pt>
                <c:pt idx="1">
                  <c:v>RF</c:v>
                </c:pt>
                <c:pt idx="2">
                  <c:v>SVM</c:v>
                </c:pt>
                <c:pt idx="3">
                  <c:v>XGBoost</c:v>
                </c:pt>
                <c:pt idx="4">
                  <c:v>ANN</c:v>
                </c:pt>
                <c:pt idx="5">
                  <c:v>xLSTM</c:v>
                </c:pt>
                <c:pt idx="6">
                  <c:v>TabPFN</c:v>
                </c:pt>
                <c:pt idx="7">
                  <c:v>SE</c:v>
                </c:pt>
              </c:strCache>
            </c:strRef>
          </c:cat>
          <c:val>
            <c:numRef>
              <c:f>'Accuracy_AUC-ROC_ExTime'!$M$31:$M$38</c:f>
              <c:numCache>
                <c:formatCode>General</c:formatCode>
                <c:ptCount val="8"/>
                <c:pt idx="0">
                  <c:v>-0.11</c:v>
                </c:pt>
                <c:pt idx="1">
                  <c:v>0.54</c:v>
                </c:pt>
                <c:pt idx="2">
                  <c:v>1.28</c:v>
                </c:pt>
                <c:pt idx="3">
                  <c:v>-0.4</c:v>
                </c:pt>
                <c:pt idx="4">
                  <c:v>1.66</c:v>
                </c:pt>
                <c:pt idx="5">
                  <c:v>1.98</c:v>
                </c:pt>
                <c:pt idx="6">
                  <c:v>2.98</c:v>
                </c:pt>
                <c:pt idx="7">
                  <c:v>1.89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7E7-4A3C-9733-F4A0E55309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30463"/>
        <c:axId val="827583"/>
      </c:lineChart>
      <c:catAx>
        <c:axId val="830463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/>
                  <a:t>Models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6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27583"/>
        <c:crosses val="autoZero"/>
        <c:auto val="1"/>
        <c:lblAlgn val="ctr"/>
        <c:lblOffset val="150"/>
        <c:noMultiLvlLbl val="0"/>
      </c:catAx>
      <c:valAx>
        <c:axId val="827583"/>
        <c:scaling>
          <c:orientation val="minMax"/>
          <c:max val="3"/>
          <c:min val="-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Log</a:t>
                </a:r>
                <a:r>
                  <a:rPr lang="en-US" sz="1000" b="0" i="0" u="none" strike="noStrike" kern="1200" baseline="-2500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</a:t>
                </a:r>
                <a:r>
                  <a:rPr lang="en-US" sz="1000" b="0" i="0" u="none" strike="noStrike" kern="120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(runtime in second)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endParaRPr lang="en-US"/>
          </a:p>
        </c:txPr>
        <c:crossAx val="83046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Times New Roman" panose="02020603050405020304" pitchFamily="18" charset="0"/>
          <a:cs typeface="Times New Roman" panose="02020603050405020304" pitchFamily="18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620d075333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620d07533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1317864" y="751292"/>
          <a:ext cx="4572000" cy="2286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9" name="Google Shape;89;p2"/>
          <p:cNvGraphicFramePr/>
          <p:nvPr/>
        </p:nvGraphicFramePr>
        <p:xfrm>
          <a:off x="1317467" y="1143000"/>
          <a:ext cx="4686300" cy="2286000"/>
        </p:xfrm>
        <a:graphic>
          <a:graphicData uri="http://schemas.openxmlformats.org/drawingml/2006/chart">
            <c:chart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3"/>
          <p:cNvGrpSpPr/>
          <p:nvPr/>
        </p:nvGrpSpPr>
        <p:grpSpPr>
          <a:xfrm>
            <a:off x="1478430" y="1431941"/>
            <a:ext cx="4899730" cy="4723053"/>
            <a:chOff x="-7" y="1030983"/>
            <a:chExt cx="5556823" cy="5800446"/>
          </a:xfrm>
        </p:grpSpPr>
        <p:grpSp>
          <p:nvGrpSpPr>
            <p:cNvPr id="95" name="Google Shape;95;p3"/>
            <p:cNvGrpSpPr/>
            <p:nvPr/>
          </p:nvGrpSpPr>
          <p:grpSpPr>
            <a:xfrm>
              <a:off x="-7" y="1058025"/>
              <a:ext cx="5556823" cy="5773404"/>
              <a:chOff x="-8" y="985366"/>
              <a:chExt cx="6650744" cy="6826790"/>
            </a:xfrm>
          </p:grpSpPr>
          <p:sp>
            <p:nvSpPr>
              <p:cNvPr id="96" name="Google Shape;96;p3"/>
              <p:cNvSpPr/>
              <p:nvPr/>
            </p:nvSpPr>
            <p:spPr>
              <a:xfrm>
                <a:off x="234945" y="986198"/>
                <a:ext cx="2054347" cy="424154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1466087" y="3281977"/>
                <a:ext cx="996696" cy="484885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2915692" y="3291336"/>
                <a:ext cx="996696" cy="484887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9" name="Google Shape;99;p3"/>
              <p:cNvSpPr/>
              <p:nvPr/>
            </p:nvSpPr>
            <p:spPr>
              <a:xfrm>
                <a:off x="5465296" y="3316908"/>
                <a:ext cx="996696" cy="484888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0" name="Google Shape;100;p3"/>
              <p:cNvSpPr/>
              <p:nvPr/>
            </p:nvSpPr>
            <p:spPr>
              <a:xfrm>
                <a:off x="4613135" y="985366"/>
                <a:ext cx="1696225" cy="409831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1" name="Google Shape;101;p3"/>
              <p:cNvSpPr/>
              <p:nvPr/>
            </p:nvSpPr>
            <p:spPr>
              <a:xfrm>
                <a:off x="0" y="2919695"/>
                <a:ext cx="6650736" cy="1014984"/>
              </a:xfrm>
              <a:prstGeom prst="rect">
                <a:avLst/>
              </a:prstGeom>
              <a:noFill/>
              <a:ln cap="flat" cmpd="sng" w="12700">
                <a:solidFill>
                  <a:srgbClr val="082836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2" name="Google Shape;102;p3"/>
              <p:cNvSpPr/>
              <p:nvPr/>
            </p:nvSpPr>
            <p:spPr>
              <a:xfrm>
                <a:off x="0" y="4425828"/>
                <a:ext cx="6650736" cy="1014984"/>
              </a:xfrm>
              <a:prstGeom prst="rect">
                <a:avLst/>
              </a:prstGeom>
              <a:noFill/>
              <a:ln cap="flat" cmpd="sng" w="12700">
                <a:solidFill>
                  <a:srgbClr val="082836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3" name="Google Shape;103;p3"/>
              <p:cNvSpPr/>
              <p:nvPr/>
            </p:nvSpPr>
            <p:spPr>
              <a:xfrm>
                <a:off x="1594104" y="4590419"/>
                <a:ext cx="740664" cy="685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4" name="Google Shape;104;p3"/>
              <p:cNvSpPr/>
              <p:nvPr/>
            </p:nvSpPr>
            <p:spPr>
              <a:xfrm>
                <a:off x="3035133" y="4578228"/>
                <a:ext cx="740664" cy="685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5" name="Google Shape;105;p3"/>
              <p:cNvSpPr/>
              <p:nvPr/>
            </p:nvSpPr>
            <p:spPr>
              <a:xfrm>
                <a:off x="5568696" y="4604136"/>
                <a:ext cx="740664" cy="685800"/>
              </a:xfrm>
              <a:prstGeom prst="ellipse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6" name="Google Shape;106;p3"/>
              <p:cNvSpPr/>
              <p:nvPr/>
            </p:nvSpPr>
            <p:spPr>
              <a:xfrm rot="10800000">
                <a:off x="-8" y="5757803"/>
                <a:ext cx="6650736" cy="91135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7" name="Google Shape;107;p3"/>
              <p:cNvSpPr/>
              <p:nvPr/>
            </p:nvSpPr>
            <p:spPr>
              <a:xfrm>
                <a:off x="0" y="6797172"/>
                <a:ext cx="6650736" cy="1014984"/>
              </a:xfrm>
              <a:prstGeom prst="rect">
                <a:avLst/>
              </a:prstGeom>
              <a:noFill/>
              <a:ln cap="flat" cmpd="sng" w="12700">
                <a:solidFill>
                  <a:srgbClr val="082836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8" name="Google Shape;108;p3"/>
              <p:cNvSpPr/>
              <p:nvPr/>
            </p:nvSpPr>
            <p:spPr>
              <a:xfrm>
                <a:off x="2729721" y="6991480"/>
                <a:ext cx="1239689" cy="722376"/>
              </a:xfrm>
              <a:prstGeom prst="hexagon">
                <a:avLst>
                  <a:gd fmla="val 25000" name="adj"/>
                  <a:gd fmla="val 115470" name="vf"/>
                </a:avLst>
              </a:prstGeom>
              <a:noFill/>
              <a:ln cap="flat" cmpd="sng" w="9525">
                <a:solidFill>
                  <a:srgbClr val="08283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09" name="Google Shape;109;p3"/>
              <p:cNvSpPr txBox="1"/>
              <p:nvPr/>
            </p:nvSpPr>
            <p:spPr>
              <a:xfrm>
                <a:off x="4389709" y="3315934"/>
                <a:ext cx="588251" cy="413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10" name="Google Shape;110;p3"/>
              <p:cNvSpPr txBox="1"/>
              <p:nvPr/>
            </p:nvSpPr>
            <p:spPr>
              <a:xfrm>
                <a:off x="4389709" y="4781223"/>
                <a:ext cx="588251" cy="413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…</a:t>
                </a:r>
                <a:endParaRPr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111" name="Google Shape;111;p3"/>
              <p:cNvCxnSpPr/>
              <p:nvPr/>
            </p:nvCxnSpPr>
            <p:spPr>
              <a:xfrm flipH="1" rot="10800000">
                <a:off x="1290155" y="2795971"/>
                <a:ext cx="4385341" cy="60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112" name="Google Shape;112;p3"/>
              <p:cNvCxnSpPr/>
              <p:nvPr/>
            </p:nvCxnSpPr>
            <p:spPr>
              <a:xfrm flipH="1">
                <a:off x="1662851" y="2810850"/>
                <a:ext cx="1068" cy="47112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3" name="Google Shape;113;p3"/>
              <p:cNvCxnSpPr/>
              <p:nvPr/>
            </p:nvCxnSpPr>
            <p:spPr>
              <a:xfrm>
                <a:off x="3130925" y="2791679"/>
                <a:ext cx="1" cy="499657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4" name="Google Shape;114;p3"/>
              <p:cNvCxnSpPr>
                <a:endCxn id="103" idx="0"/>
              </p:cNvCxnSpPr>
              <p:nvPr/>
            </p:nvCxnSpPr>
            <p:spPr>
              <a:xfrm>
                <a:off x="1959336" y="3772619"/>
                <a:ext cx="5100" cy="81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5" name="Google Shape;115;p3"/>
              <p:cNvCxnSpPr>
                <a:endCxn id="105" idx="0"/>
              </p:cNvCxnSpPr>
              <p:nvPr/>
            </p:nvCxnSpPr>
            <p:spPr>
              <a:xfrm>
                <a:off x="5939028" y="3822936"/>
                <a:ext cx="0" cy="7812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6" name="Google Shape;116;p3"/>
              <p:cNvCxnSpPr>
                <a:stCxn id="103" idx="4"/>
              </p:cNvCxnSpPr>
              <p:nvPr/>
            </p:nvCxnSpPr>
            <p:spPr>
              <a:xfrm>
                <a:off x="1964436" y="5276219"/>
                <a:ext cx="0" cy="487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7" name="Google Shape;117;p3"/>
              <p:cNvCxnSpPr>
                <a:stCxn id="104" idx="4"/>
              </p:cNvCxnSpPr>
              <p:nvPr/>
            </p:nvCxnSpPr>
            <p:spPr>
              <a:xfrm flipH="1">
                <a:off x="3403665" y="5264028"/>
                <a:ext cx="1800" cy="4938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8" name="Google Shape;118;p3"/>
              <p:cNvCxnSpPr>
                <a:stCxn id="105" idx="4"/>
              </p:cNvCxnSpPr>
              <p:nvPr/>
            </p:nvCxnSpPr>
            <p:spPr>
              <a:xfrm>
                <a:off x="5939028" y="5289936"/>
                <a:ext cx="0" cy="461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119" name="Google Shape;119;p3"/>
              <p:cNvCxnSpPr>
                <a:stCxn id="106" idx="0"/>
              </p:cNvCxnSpPr>
              <p:nvPr/>
            </p:nvCxnSpPr>
            <p:spPr>
              <a:xfrm>
                <a:off x="3325360" y="6669153"/>
                <a:ext cx="40200" cy="3144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20" name="Google Shape;120;p3"/>
            <p:cNvSpPr/>
            <p:nvPr/>
          </p:nvSpPr>
          <p:spPr>
            <a:xfrm>
              <a:off x="0" y="1030983"/>
              <a:ext cx="5556814" cy="1014984"/>
            </a:xfrm>
            <a:prstGeom prst="rect">
              <a:avLst/>
            </a:prstGeom>
            <a:noFill/>
            <a:ln cap="flat" cmpd="sng" w="12700">
              <a:solidFill>
                <a:srgbClr val="082836"/>
              </a:solidFill>
              <a:prstDash val="dash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21" name="Google Shape;121;p3"/>
          <p:cNvSpPr/>
          <p:nvPr/>
        </p:nvSpPr>
        <p:spPr>
          <a:xfrm>
            <a:off x="1491245" y="634951"/>
            <a:ext cx="2911531" cy="339468"/>
          </a:xfrm>
          <a:prstGeom prst="rect">
            <a:avLst/>
          </a:prstGeom>
          <a:noFill/>
          <a:ln cap="flat" cmpd="sng" w="12700">
            <a:solidFill>
              <a:srgbClr val="082836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2" name="Google Shape;122;p3"/>
          <p:cNvCxnSpPr/>
          <p:nvPr/>
        </p:nvCxnSpPr>
        <p:spPr>
          <a:xfrm>
            <a:off x="4046646" y="1236744"/>
            <a:ext cx="0" cy="19519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3" name="Google Shape;123;p3"/>
          <p:cNvSpPr txBox="1"/>
          <p:nvPr/>
        </p:nvSpPr>
        <p:spPr>
          <a:xfrm>
            <a:off x="1491242" y="672273"/>
            <a:ext cx="2768897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Acquisition and Preprocessing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4877021" y="1450480"/>
            <a:ext cx="1460521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Dataset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491244" y="5476833"/>
            <a:ext cx="4899721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Prediction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3"/>
          <p:cNvSpPr txBox="1"/>
          <p:nvPr/>
        </p:nvSpPr>
        <p:spPr>
          <a:xfrm>
            <a:off x="2565597" y="3079998"/>
            <a:ext cx="709234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3626482" y="3076860"/>
            <a:ext cx="734285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5504824" y="3074032"/>
            <a:ext cx="734285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r>
              <a:rPr baseline="-2500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1651525" y="1469577"/>
            <a:ext cx="2973998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Dataset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2765297" y="4020687"/>
            <a:ext cx="398751" cy="2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" name="Google Shape;131;p3"/>
          <p:cNvSpPr txBox="1"/>
          <p:nvPr/>
        </p:nvSpPr>
        <p:spPr>
          <a:xfrm>
            <a:off x="3785047" y="4007693"/>
            <a:ext cx="386118" cy="2839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5648995" y="4020686"/>
            <a:ext cx="372831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1478431" y="4748448"/>
            <a:ext cx="4899600" cy="4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Calibrated </a:t>
            </a: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Ensembled Prediction with </a:t>
            </a:r>
            <a:b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Meta-Classifier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3626483" y="5672615"/>
            <a:ext cx="633655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</a:t>
            </a:r>
            <a:r>
              <a:rPr baseline="-2500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1512622" y="3010781"/>
            <a:ext cx="869414" cy="4951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Base Models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1529496" y="4007694"/>
            <a:ext cx="1118578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Predictions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3352673" y="1085042"/>
            <a:ext cx="1513477" cy="2876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Train-Test Split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8" name="Google Shape;138;p3"/>
          <p:cNvCxnSpPr/>
          <p:nvPr/>
        </p:nvCxnSpPr>
        <p:spPr>
          <a:xfrm>
            <a:off x="5648995" y="2709068"/>
            <a:ext cx="1" cy="35042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9" name="Google Shape;139;p3"/>
          <p:cNvSpPr/>
          <p:nvPr/>
        </p:nvSpPr>
        <p:spPr>
          <a:xfrm>
            <a:off x="1664333" y="1902368"/>
            <a:ext cx="1513477" cy="292079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679480" y="1908429"/>
            <a:ext cx="1513474" cy="284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Scale, SMOTE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41" name="Google Shape;141;p3"/>
          <p:cNvCxnSpPr>
            <a:stCxn id="139" idx="2"/>
          </p:cNvCxnSpPr>
          <p:nvPr/>
        </p:nvCxnSpPr>
        <p:spPr>
          <a:xfrm>
            <a:off x="2421072" y="2194447"/>
            <a:ext cx="6300" cy="506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2" name="Google Shape;142;p3"/>
          <p:cNvCxnSpPr/>
          <p:nvPr/>
        </p:nvCxnSpPr>
        <p:spPr>
          <a:xfrm flipH="1">
            <a:off x="3987306" y="3367267"/>
            <a:ext cx="6318" cy="55227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3" name="Google Shape;143;p3"/>
          <p:cNvCxnSpPr/>
          <p:nvPr/>
        </p:nvCxnSpPr>
        <p:spPr>
          <a:xfrm>
            <a:off x="3089296" y="2556317"/>
            <a:ext cx="2932531" cy="152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4" name="Google Shape;144;p3"/>
          <p:cNvCxnSpPr>
            <a:endCxn id="139" idx="0"/>
          </p:cNvCxnSpPr>
          <p:nvPr/>
        </p:nvCxnSpPr>
        <p:spPr>
          <a:xfrm>
            <a:off x="2421072" y="1755068"/>
            <a:ext cx="0" cy="1473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5" name="Google Shape;145;p3"/>
          <p:cNvCxnSpPr/>
          <p:nvPr/>
        </p:nvCxnSpPr>
        <p:spPr>
          <a:xfrm>
            <a:off x="6021827" y="2564836"/>
            <a:ext cx="0" cy="49215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6" name="Google Shape;146;p3"/>
          <p:cNvCxnSpPr/>
          <p:nvPr/>
        </p:nvCxnSpPr>
        <p:spPr>
          <a:xfrm>
            <a:off x="5419334" y="1741962"/>
            <a:ext cx="0" cy="83139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47" name="Google Shape;147;p3"/>
          <p:cNvGrpSpPr/>
          <p:nvPr/>
        </p:nvGrpSpPr>
        <p:grpSpPr>
          <a:xfrm>
            <a:off x="4109412" y="2564836"/>
            <a:ext cx="63789" cy="481942"/>
            <a:chOff x="5141935" y="2514854"/>
            <a:chExt cx="69161" cy="556049"/>
          </a:xfrm>
        </p:grpSpPr>
        <p:cxnSp>
          <p:nvCxnSpPr>
            <p:cNvPr id="148" name="Google Shape;148;p3"/>
            <p:cNvCxnSpPr/>
            <p:nvPr/>
          </p:nvCxnSpPr>
          <p:spPr>
            <a:xfrm>
              <a:off x="5186016" y="2739218"/>
              <a:ext cx="0" cy="33168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49" name="Google Shape;149;p3"/>
            <p:cNvCxnSpPr/>
            <p:nvPr/>
          </p:nvCxnSpPr>
          <p:spPr>
            <a:xfrm>
              <a:off x="5208889" y="2514854"/>
              <a:ext cx="2207" cy="1201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150" name="Google Shape;150;p3"/>
            <p:cNvSpPr/>
            <p:nvPr/>
          </p:nvSpPr>
          <p:spPr>
            <a:xfrm>
              <a:off x="5141935" y="2625213"/>
              <a:ext cx="59329" cy="117987"/>
            </a:xfrm>
            <a:custGeom>
              <a:rect b="b" l="l" r="r" t="t"/>
              <a:pathLst>
                <a:path extrusionOk="0" h="117987" w="59329">
                  <a:moveTo>
                    <a:pt x="59329" y="0"/>
                  </a:moveTo>
                  <a:cubicBezTo>
                    <a:pt x="31470" y="14748"/>
                    <a:pt x="3612" y="29497"/>
                    <a:pt x="335" y="49161"/>
                  </a:cubicBezTo>
                  <a:cubicBezTo>
                    <a:pt x="-2942" y="68825"/>
                    <a:pt x="18361" y="93406"/>
                    <a:pt x="39664" y="11798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1" name="Google Shape;151;p3"/>
          <p:cNvGrpSpPr/>
          <p:nvPr/>
        </p:nvGrpSpPr>
        <p:grpSpPr>
          <a:xfrm>
            <a:off x="3025732" y="2552057"/>
            <a:ext cx="54720" cy="475003"/>
            <a:chOff x="2290816" y="2512143"/>
            <a:chExt cx="59329" cy="548042"/>
          </a:xfrm>
        </p:grpSpPr>
        <p:cxnSp>
          <p:nvCxnSpPr>
            <p:cNvPr id="152" name="Google Shape;152;p3"/>
            <p:cNvCxnSpPr/>
            <p:nvPr/>
          </p:nvCxnSpPr>
          <p:spPr>
            <a:xfrm>
              <a:off x="2326597" y="2728500"/>
              <a:ext cx="0" cy="33168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53" name="Google Shape;153;p3"/>
            <p:cNvSpPr/>
            <p:nvPr/>
          </p:nvSpPr>
          <p:spPr>
            <a:xfrm>
              <a:off x="2290816" y="2622499"/>
              <a:ext cx="59329" cy="117987"/>
            </a:xfrm>
            <a:custGeom>
              <a:rect b="b" l="l" r="r" t="t"/>
              <a:pathLst>
                <a:path extrusionOk="0" h="117987" w="59329">
                  <a:moveTo>
                    <a:pt x="59329" y="0"/>
                  </a:moveTo>
                  <a:cubicBezTo>
                    <a:pt x="31470" y="14748"/>
                    <a:pt x="3612" y="29497"/>
                    <a:pt x="335" y="49161"/>
                  </a:cubicBezTo>
                  <a:cubicBezTo>
                    <a:pt x="-2942" y="68825"/>
                    <a:pt x="18361" y="93406"/>
                    <a:pt x="39664" y="117987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54" name="Google Shape;154;p3"/>
            <p:cNvCxnSpPr/>
            <p:nvPr/>
          </p:nvCxnSpPr>
          <p:spPr>
            <a:xfrm>
              <a:off x="2347935" y="2512143"/>
              <a:ext cx="2207" cy="12019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55" name="Google Shape;155;p3"/>
          <p:cNvSpPr/>
          <p:nvPr/>
        </p:nvSpPr>
        <p:spPr>
          <a:xfrm>
            <a:off x="1512621" y="83187"/>
            <a:ext cx="4865523" cy="3236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Fig.1: Stacking ensemble model overview.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4"/>
          <p:cNvGrpSpPr/>
          <p:nvPr/>
        </p:nvGrpSpPr>
        <p:grpSpPr>
          <a:xfrm>
            <a:off x="938692" y="405870"/>
            <a:ext cx="3220353" cy="5810001"/>
            <a:chOff x="938692" y="405870"/>
            <a:chExt cx="3220353" cy="5810001"/>
          </a:xfrm>
        </p:grpSpPr>
        <p:sp>
          <p:nvSpPr>
            <p:cNvPr id="161" name="Google Shape;161;p4"/>
            <p:cNvSpPr txBox="1"/>
            <p:nvPr/>
          </p:nvSpPr>
          <p:spPr>
            <a:xfrm>
              <a:off x="1158749" y="5956313"/>
              <a:ext cx="1298753" cy="259558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SMOTE</a:t>
              </a:r>
              <a:endParaRPr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2" name="Google Shape;162;p4"/>
            <p:cNvSpPr txBox="1"/>
            <p:nvPr/>
          </p:nvSpPr>
          <p:spPr>
            <a:xfrm>
              <a:off x="2612342" y="4894484"/>
              <a:ext cx="1313739" cy="1321387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Prediction with Models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br>
                <a:rPr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</a:br>
              <a:r>
                <a:rPr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Performance Metric and Execution Overhead</a:t>
              </a:r>
              <a:endParaRPr/>
            </a:p>
          </p:txBody>
        </p:sp>
        <p:sp>
          <p:nvSpPr>
            <p:cNvPr id="163" name="Google Shape;163;p4"/>
            <p:cNvSpPr txBox="1"/>
            <p:nvPr/>
          </p:nvSpPr>
          <p:spPr>
            <a:xfrm>
              <a:off x="1050764" y="927970"/>
              <a:ext cx="3009959" cy="4796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Acquisition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4" name="Google Shape;164;p4"/>
            <p:cNvCxnSpPr/>
            <p:nvPr/>
          </p:nvCxnSpPr>
          <p:spPr>
            <a:xfrm>
              <a:off x="1112070" y="1189708"/>
              <a:ext cx="1392109" cy="285733"/>
            </a:xfrm>
            <a:prstGeom prst="bentConnector2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65" name="Google Shape;165;p4"/>
            <p:cNvSpPr txBox="1"/>
            <p:nvPr/>
          </p:nvSpPr>
          <p:spPr>
            <a:xfrm>
              <a:off x="1040994" y="1475441"/>
              <a:ext cx="3019729" cy="47964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HINTS6 Dataset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baseline="-25000"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r>
                <a:rPr lang="en-US" sz="12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= 6252</a:t>
              </a:r>
              <a:endParaRPr/>
            </a:p>
          </p:txBody>
        </p:sp>
        <p:cxnSp>
          <p:nvCxnSpPr>
            <p:cNvPr id="166" name="Google Shape;166;p4"/>
            <p:cNvCxnSpPr>
              <a:stCxn id="165" idx="2"/>
              <a:endCxn id="167" idx="0"/>
            </p:cNvCxnSpPr>
            <p:nvPr/>
          </p:nvCxnSpPr>
          <p:spPr>
            <a:xfrm>
              <a:off x="2550859" y="1955081"/>
              <a:ext cx="0" cy="363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68" name="Google Shape;168;p4"/>
            <p:cNvGrpSpPr/>
            <p:nvPr/>
          </p:nvGrpSpPr>
          <p:grpSpPr>
            <a:xfrm>
              <a:off x="1040994" y="2318475"/>
              <a:ext cx="3019729" cy="733477"/>
              <a:chOff x="1041642" y="2492254"/>
              <a:chExt cx="4410336" cy="800120"/>
            </a:xfrm>
          </p:grpSpPr>
          <p:sp>
            <p:nvSpPr>
              <p:cNvPr id="167" name="Google Shape;167;p4"/>
              <p:cNvSpPr txBox="1"/>
              <p:nvPr/>
            </p:nvSpPr>
            <p:spPr>
              <a:xfrm>
                <a:off x="1041642" y="2492254"/>
                <a:ext cx="4410336" cy="52322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Feature selection for target variable (Heart Conditions) Classification</a:t>
                </a:r>
                <a:endParaRPr/>
              </a:p>
            </p:txBody>
          </p:sp>
          <p:cxnSp>
            <p:nvCxnSpPr>
              <p:cNvPr id="169" name="Google Shape;169;p4"/>
              <p:cNvCxnSpPr>
                <a:stCxn id="167" idx="2"/>
                <a:endCxn id="170" idx="0"/>
              </p:cNvCxnSpPr>
              <p:nvPr/>
            </p:nvCxnSpPr>
            <p:spPr>
              <a:xfrm>
                <a:off x="3246810" y="3015474"/>
                <a:ext cx="0" cy="276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</p:grpSp>
        <p:sp>
          <p:nvSpPr>
            <p:cNvPr id="170" name="Google Shape;170;p4"/>
            <p:cNvSpPr txBox="1"/>
            <p:nvPr/>
          </p:nvSpPr>
          <p:spPr>
            <a:xfrm>
              <a:off x="1040994" y="3051924"/>
              <a:ext cx="3019729" cy="65659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 preprocessing (Filter out unqualified dataset) 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42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</a:t>
              </a:r>
              <a:r>
                <a:rPr baseline="-25000"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r>
                <a:rPr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= 4875</a:t>
              </a:r>
              <a:endParaRPr/>
            </a:p>
          </p:txBody>
        </p:sp>
        <p:cxnSp>
          <p:nvCxnSpPr>
            <p:cNvPr id="171" name="Google Shape;171;p4"/>
            <p:cNvCxnSpPr>
              <a:stCxn id="170" idx="2"/>
              <a:endCxn id="172" idx="0"/>
            </p:cNvCxnSpPr>
            <p:nvPr/>
          </p:nvCxnSpPr>
          <p:spPr>
            <a:xfrm>
              <a:off x="2550859" y="3708514"/>
              <a:ext cx="0" cy="250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3" name="Google Shape;173;p4"/>
            <p:cNvSpPr txBox="1"/>
            <p:nvPr/>
          </p:nvSpPr>
          <p:spPr>
            <a:xfrm>
              <a:off x="1158749" y="4901701"/>
              <a:ext cx="1298753" cy="258532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Standard Scaling</a:t>
              </a:r>
              <a:endParaRPr/>
            </a:p>
          </p:txBody>
        </p:sp>
        <p:cxnSp>
          <p:nvCxnSpPr>
            <p:cNvPr id="174" name="Google Shape;174;p4"/>
            <p:cNvCxnSpPr>
              <a:stCxn id="173" idx="2"/>
              <a:endCxn id="161" idx="0"/>
            </p:cNvCxnSpPr>
            <p:nvPr/>
          </p:nvCxnSpPr>
          <p:spPr>
            <a:xfrm>
              <a:off x="1808126" y="5160233"/>
              <a:ext cx="0" cy="796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175" name="Google Shape;175;p4"/>
            <p:cNvGrpSpPr/>
            <p:nvPr/>
          </p:nvGrpSpPr>
          <p:grpSpPr>
            <a:xfrm>
              <a:off x="1040994" y="3959231"/>
              <a:ext cx="3019729" cy="721223"/>
              <a:chOff x="432041" y="4364782"/>
              <a:chExt cx="4410336" cy="786753"/>
            </a:xfrm>
          </p:grpSpPr>
          <p:sp>
            <p:nvSpPr>
              <p:cNvPr id="172" name="Google Shape;172;p4"/>
              <p:cNvSpPr txBox="1"/>
              <p:nvPr/>
            </p:nvSpPr>
            <p:spPr>
              <a:xfrm>
                <a:off x="432041" y="4364782"/>
                <a:ext cx="4410336" cy="786753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Times New Roman"/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Train – Test split (Test-size = 0.2)</a:t>
                </a:r>
                <a:endParaRPr/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42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indent="0" lvl="0" marL="0" marR="0" rtl="0" algn="l">
                  <a:lnSpc>
                    <a:spcPct val="90000"/>
                  </a:lnSpc>
                  <a:spcBef>
                    <a:spcPts val="420"/>
                  </a:spcBef>
                  <a:spcAft>
                    <a:spcPts val="0"/>
                  </a:spcAft>
                  <a:buClr>
                    <a:schemeClr val="dk1"/>
                  </a:buClr>
                  <a:buSzPts val="1200"/>
                  <a:buFont typeface="Arial"/>
                  <a:buNone/>
                </a:pPr>
                <a:r>
                  <a:t/>
                </a:r>
                <a:endParaRPr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76" name="Google Shape;176;p4"/>
              <p:cNvSpPr txBox="1"/>
              <p:nvPr/>
            </p:nvSpPr>
            <p:spPr>
              <a:xfrm>
                <a:off x="604024" y="4758180"/>
                <a:ext cx="1896838" cy="282022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Times New Roman"/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Training dataset</a:t>
                </a:r>
                <a:endParaRPr/>
              </a:p>
            </p:txBody>
          </p:sp>
          <p:sp>
            <p:nvSpPr>
              <p:cNvPr id="177" name="Google Shape;177;p4"/>
              <p:cNvSpPr txBox="1"/>
              <p:nvPr/>
            </p:nvSpPr>
            <p:spPr>
              <a:xfrm>
                <a:off x="2727006" y="4768548"/>
                <a:ext cx="1918725" cy="287515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Times New Roman"/>
                  <a:buNone/>
                </a:pPr>
                <a:r>
                  <a:rPr lang="en-US" sz="12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Test dataset</a:t>
                </a:r>
                <a:endParaRPr/>
              </a:p>
            </p:txBody>
          </p:sp>
        </p:grpSp>
        <p:cxnSp>
          <p:nvCxnSpPr>
            <p:cNvPr id="178" name="Google Shape;178;p4"/>
            <p:cNvCxnSpPr>
              <a:endCxn id="173" idx="0"/>
            </p:cNvCxnSpPr>
            <p:nvPr/>
          </p:nvCxnSpPr>
          <p:spPr>
            <a:xfrm>
              <a:off x="1808126" y="4596001"/>
              <a:ext cx="0" cy="3057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179" name="Google Shape;179;p4"/>
            <p:cNvCxnSpPr/>
            <p:nvPr/>
          </p:nvCxnSpPr>
          <p:spPr>
            <a:xfrm>
              <a:off x="3242043" y="4592934"/>
              <a:ext cx="0" cy="30155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80" name="Google Shape;180;p4"/>
            <p:cNvSpPr txBox="1"/>
            <p:nvPr/>
          </p:nvSpPr>
          <p:spPr>
            <a:xfrm>
              <a:off x="938692" y="405870"/>
              <a:ext cx="3220353" cy="4413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Times New Roman"/>
                <a:buNone/>
              </a:pPr>
              <a:r>
                <a:rPr i="1" lang="en-US" sz="12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Fig 2: Flow diagram to measure model performance metric and execution overhead</a:t>
              </a:r>
              <a:endParaRPr i="1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620d075333_1_0"/>
          <p:cNvSpPr txBox="1"/>
          <p:nvPr/>
        </p:nvSpPr>
        <p:spPr>
          <a:xfrm>
            <a:off x="968344" y="2281379"/>
            <a:ext cx="3019800" cy="27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Calibrated Probabilities</a:t>
            </a:r>
            <a:endParaRPr/>
          </a:p>
        </p:txBody>
      </p:sp>
      <p:sp>
        <p:nvSpPr>
          <p:cNvPr id="186" name="Google Shape;186;g3620d075333_1_0"/>
          <p:cNvSpPr txBox="1"/>
          <p:nvPr/>
        </p:nvSpPr>
        <p:spPr>
          <a:xfrm>
            <a:off x="968344" y="1565566"/>
            <a:ext cx="3019800" cy="27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Ensembling with Meta Classifier</a:t>
            </a:r>
            <a:endParaRPr/>
          </a:p>
        </p:txBody>
      </p:sp>
      <p:sp>
        <p:nvSpPr>
          <p:cNvPr id="187" name="Google Shape;187;g3620d075333_1_0"/>
          <p:cNvSpPr txBox="1"/>
          <p:nvPr/>
        </p:nvSpPr>
        <p:spPr>
          <a:xfrm>
            <a:off x="968344" y="2997166"/>
            <a:ext cx="3019800" cy="27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Thresholding</a:t>
            </a:r>
            <a:endParaRPr/>
          </a:p>
        </p:txBody>
      </p:sp>
      <p:sp>
        <p:nvSpPr>
          <p:cNvPr id="188" name="Google Shape;188;g3620d075333_1_0"/>
          <p:cNvSpPr txBox="1"/>
          <p:nvPr/>
        </p:nvSpPr>
        <p:spPr>
          <a:xfrm>
            <a:off x="968344" y="3712966"/>
            <a:ext cx="3019800" cy="276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 Prediction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2025-04-10T13:22:50Z</dcterms:created>
  <dc:creator>Silwal, Anita</dc:creator>
</cp:coreProperties>
</file>